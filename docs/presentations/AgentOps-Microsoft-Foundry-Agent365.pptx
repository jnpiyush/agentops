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0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AgentOps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0E6FF"/>
                </a:solidFill>
              </a:defRPr>
            </a:pPr>
            <a:r>
              <a:t>Operationalizing AI Agents with Microsoft Foundry &amp; Agent 365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3291840"/>
            <a:ext cx="457200" cy="457200"/>
          </a:xfrm>
          <a:prstGeom prst="ellipse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20" y="3291840"/>
            <a:ext cx="457200" cy="4572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64240" y="329184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Building, Deploying &amp; Governing Enterprise AI Agents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</a:defRPr>
            </a:pPr>
            <a:r>
              <a:t>March 2026  |  Practitioner-Level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01  What is AgentOps?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The discipline of operationalizing AI agents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02  Microsoft Foundry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The agent factory - build, deploy, observe, govern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6304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03  Agent 365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Enterprise agent lifecycle management across M365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04  Agent Architecture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Components: Models, Tools, Orchestration,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69748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05  AgentOps Lifecycle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Design -&gt; Build -&gt; Deploy -&gt; Monitor -&gt; Optimize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69748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06  Foundry Agent Service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Deep dive into agent runtime capabilities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07  Workflows &amp; Orchestration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Multi-agent coordination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93192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08  Agent 365 Governance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Identity, registry, access control,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93192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09  Observability &amp; Evaluation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Tracing, metrics, evaluations, feedback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10  Enterprise Integration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Connecting agents to business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516636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11  Security &amp; Trust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RBAC, content safety, data protection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5166360"/>
            <a:ext cx="3474720" cy="10515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 b="1">
                <a:solidFill>
                  <a:srgbClr val="50E6FF"/>
                </a:solidFill>
              </a:defRPr>
            </a:pPr>
            <a:r>
              <a:t>12  Getting Started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Quickstart roadmap and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AgentOps?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The Discipline of Operationalizing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0" cy="10972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AgentOps is the set of practices, tools, and governance frameworks for managing the full lifecycle of AI agents -- from design and development through deployment, monitoring, evaluation, and continuous improvement in production.</a:t>
            </a:r>
          </a:p>
        </p:txBody>
      </p:sp>
      <p:sp>
        <p:nvSpPr>
          <p:cNvPr id="7" name="Oval 6"/>
          <p:cNvSpPr/>
          <p:nvPr/>
        </p:nvSpPr>
        <p:spPr>
          <a:xfrm>
            <a:off x="2103120" y="29260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2F2F2"/>
                </a:solidFill>
              </a:defRPr>
            </a:pPr>
            <a:r>
              <a:t>Design, develop, test</a:t>
            </a:r>
            <a:br/>
            <a:r>
              <a:t>agents with models,</a:t>
            </a:r>
            <a:br/>
            <a:r>
              <a:t>tools &amp; instructions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926080"/>
            <a:ext cx="914400" cy="9144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294"/>
                </a:solidFill>
              </a:defRPr>
            </a:pPr>
            <a: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2F2F2"/>
                </a:solidFill>
              </a:defRPr>
            </a:pPr>
            <a:r>
              <a:t>Ship agents to</a:t>
            </a:r>
            <a:br/>
            <a:r>
              <a:t>production with CI/CD,</a:t>
            </a:r>
            <a:br/>
            <a:r>
              <a:t>security &amp; compliance</a:t>
            </a:r>
          </a:p>
        </p:txBody>
      </p:sp>
      <p:sp>
        <p:nvSpPr>
          <p:cNvPr id="13" name="Oval 12"/>
          <p:cNvSpPr/>
          <p:nvPr/>
        </p:nvSpPr>
        <p:spPr>
          <a:xfrm>
            <a:off x="9052559" y="2926080"/>
            <a:ext cx="914400" cy="914400"/>
          </a:xfrm>
          <a:prstGeom prst="ellipse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861C4"/>
                </a:solidFill>
              </a:defRPr>
            </a:pPr>
            <a:r>
              <a:t>Operate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2F2F2"/>
                </a:solidFill>
              </a:defRPr>
            </a:pPr>
            <a:r>
              <a:t>Monitor, evaluate,</a:t>
            </a:r>
            <a:br/>
            <a:r>
              <a:t>iterate agents with</a:t>
            </a:r>
            <a:br/>
            <a:r>
              <a:t>observability &amp; feedback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31920" y="3017520"/>
            <a:ext cx="731520" cy="36576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406640" y="3017520"/>
            <a:ext cx="731520" cy="36576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B900"/>
                </a:solidFill>
              </a:defRPr>
            </a:pPr>
            <a:r>
              <a:t>Think of it as DevOps for AI Agents -- applying operational rigor to intelligent, autonomous systems that reason, decide, and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AgentOps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Challenges of Moving AI Agents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LLMs Drift &amp; Hallucinate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Without guardrails, agent outputs degrade over time and produce unreliable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Teams cannot see what agents decide, which tools they call, or why they 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8640" cy="54864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Security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Agents without identity management can be exploited or access unauthorized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48640" cy="54864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Shadow agents proliferate -- untracked, unmanaged, non-compliant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Scale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Manual orchestration breaks down with multiple agents across business units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48640" cy="54864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Trust Deficit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Stakeholders cannot trust agents they cannot observe, audit, or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52160"/>
            <a:ext cx="109728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AgentOps addresses these challenges with structure, tooling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Microsoft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The Agent Factory -- Build, Deploy, Observe, Govern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37760" y="2743200"/>
            <a:ext cx="2286000" cy="2286000"/>
          </a:xfrm>
          <a:prstGeom prst="ellipse">
            <a:avLst/>
          </a:prstGeom>
          <a:solidFill>
            <a:srgbClr val="0078D4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</a:t>
            </a:r>
            <a:br/>
            <a:r>
              <a:t>Agent</a:t>
            </a:r>
            <a:br/>
            <a: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645920"/>
            <a:ext cx="1828800" cy="109728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1828800" cy="109728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Tools &amp;</a:t>
            </a:r>
            <a:br/>
            <a:r>
              <a:t>Frameworks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572000"/>
            <a:ext cx="182880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Governance</a:t>
            </a:r>
            <a:br/>
            <a:r>
              <a:t>&amp;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572000"/>
            <a:ext cx="1828800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194560"/>
            <a:ext cx="1280160" cy="1005840"/>
          </a:xfrm>
          <a:prstGeom prst="line">
            <a:avLst/>
          </a:prstGeom>
          <a:ln w="2540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23760" y="2194560"/>
            <a:ext cx="1188720" cy="1005840"/>
          </a:xfrm>
          <a:prstGeom prst="line">
            <a:avLst/>
          </a:prstGeom>
          <a:ln w="2540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223760" y="4572000"/>
            <a:ext cx="1188720" cy="548640"/>
          </a:xfrm>
          <a:prstGeom prst="line">
            <a:avLst/>
          </a:prstGeom>
          <a:ln w="2540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57600" y="4572000"/>
            <a:ext cx="1280160" cy="548640"/>
          </a:xfrm>
          <a:prstGeom prst="line">
            <a:avLst/>
          </a:prstGeom>
          <a:ln w="2540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2F2"/>
                </a:solidFill>
              </a:defRPr>
            </a:pPr>
            <a:r>
              <a:t>Foundry combines models, tools, frameworks &amp; governance into a unified system for building intelligent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Foundry Agent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6-Step Assembly Line to Production-Ready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0078D4"/>
                </a:solidFill>
              </a:defRPr>
            </a:pPr>
            <a:r>
              <a:t>1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Models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Select LLM</a:t>
            </a:r>
            <a:br/>
            <a:r>
              <a:t>(GPT-4o, Llama,</a:t>
            </a:r>
            <a:br/>
            <a:r>
              <a:t>GPT-3.5)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3200400"/>
            <a:ext cx="182880" cy="27432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00B294"/>
                </a:solidFill>
              </a:defRPr>
            </a:pPr>
            <a:r>
              <a:t>2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Customize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Fine-tune,</a:t>
            </a:r>
            <a:br/>
            <a:r>
              <a:t>distillation,</a:t>
            </a:r>
            <a:br/>
            <a:r>
              <a:t>prompts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3200400"/>
            <a:ext cx="182880" cy="27432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8861C4"/>
                </a:solidFill>
              </a:defRPr>
            </a:pPr>
            <a:r>
              <a:t>3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Knowledge</a:t>
            </a:r>
            <a:br/>
            <a:r>
              <a:t>&amp; Tools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Bing, SharePoint,</a:t>
            </a:r>
            <a:br/>
            <a:r>
              <a:t>AI Search, Logic</a:t>
            </a:r>
            <a:br/>
            <a:r>
              <a:t>Apps, Functions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80760" y="3200400"/>
            <a:ext cx="182880" cy="27432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FF8C00"/>
                </a:solidFill>
              </a:defRPr>
            </a:pPr>
            <a:r>
              <a:t>4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Orchestrate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Workflows,</a:t>
            </a:r>
            <a:br/>
            <a:r>
              <a:t>tool calls,</a:t>
            </a:r>
            <a:br/>
            <a:r>
              <a:t>state mgmt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3200400"/>
            <a:ext cx="182880" cy="27432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0078D4"/>
                </a:solidFill>
              </a:defRPr>
            </a:pPr>
            <a:r>
              <a:t>5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Observe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Logs, traces,</a:t>
            </a:r>
            <a:br/>
            <a:r>
              <a:t>evaluations,</a:t>
            </a:r>
            <a:br/>
            <a:r>
              <a:t>App Insights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21240" y="3200400"/>
            <a:ext cx="182880" cy="27432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737360" cy="3200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E74C3C"/>
                </a:solidFill>
              </a:defRPr>
            </a:pPr>
            <a:r>
              <a:t>6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Trust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Entra ID, RBAC,</a:t>
            </a:r>
            <a:br/>
            <a:r>
              <a:t>content filters,</a:t>
            </a:r>
            <a:br/>
            <a:r>
              <a:t>encryption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394960"/>
            <a:ext cx="7589520" cy="731520"/>
          </a:xfrm>
          <a:prstGeom prst="roundRect">
            <a:avLst/>
          </a:prstGeom>
          <a:solidFill>
            <a:srgbClr val="0078D4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Production-Ready Agent: Reliable, Extensible, Safe to Deploy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5074920"/>
            <a:ext cx="640080" cy="320040"/>
          </a:xfrm>
          <a:prstGeom prst="down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Microsoft Agent 365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Enterprise Agent Lifecycle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0" cy="91440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Agent 365 gives each AI agent its own Microsoft Entra Agent ID for identity, lifecycle, and access management. Agents become observable and manageable in the M365 admin center.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011680" cy="25603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078D4"/>
                </a:solidFill>
              </a:defRPr>
            </a:pPr>
            <a:r>
              <a:t>Registry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Complete view of all</a:t>
            </a:r>
            <a:br/>
            <a:r>
              <a:t>agents - with Agent ID,</a:t>
            </a:r>
            <a:br/>
            <a:r>
              <a:t>registered &amp; shadow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743200"/>
            <a:ext cx="2011680" cy="25603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0B294"/>
                </a:solidFill>
              </a:defRPr>
            </a:pPr>
            <a:r>
              <a:t>Access</a:t>
            </a:r>
            <a:br/>
            <a:r>
              <a:t>Control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Limit agent access</a:t>
            </a:r>
            <a:br/>
            <a:r>
              <a:t>to needed resources.</a:t>
            </a:r>
            <a:br/>
            <a:r>
              <a:t>Conditional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43200"/>
            <a:ext cx="2011680" cy="25603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8861C4"/>
                </a:solidFill>
              </a:defRPr>
            </a:pPr>
            <a:r>
              <a:t>Visualization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Explore connections</a:t>
            </a:r>
            <a:br/>
            <a:r>
              <a:t>between agents, people</a:t>
            </a:r>
            <a:br/>
            <a:r>
              <a:t>&amp; data in real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743200"/>
            <a:ext cx="2011680" cy="25603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FF8C00"/>
                </a:solidFill>
              </a:defRPr>
            </a:pPr>
            <a:r>
              <a:t>Interop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Equip agents with</a:t>
            </a:r>
            <a:br/>
            <a:r>
              <a:t>apps &amp; data. Connect</a:t>
            </a:r>
            <a:br/>
            <a:r>
              <a:t>to Work 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743200"/>
            <a:ext cx="2011680" cy="25603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E74C3C"/>
                </a:solidFill>
              </a:defRPr>
            </a:pPr>
            <a:r>
              <a:t>Security</a:t>
            </a:r>
          </a:p>
          <a:p>
            <a:pPr algn="ctr">
              <a:defRPr sz="1000">
                <a:solidFill>
                  <a:srgbClr val="F2F2F2"/>
                </a:solidFill>
              </a:defRPr>
            </a:pPr>
            <a:r>
              <a:t>Protect agents from</a:t>
            </a:r>
            <a:br/>
            <a:r>
              <a:t>threats. Detect &amp;</a:t>
            </a:r>
            <a:br/>
            <a:r>
              <a:t>remediate attacks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2011680" cy="41148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IT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5577840"/>
            <a:ext cx="2011680" cy="41148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577840"/>
            <a:ext cx="2011680" cy="41148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Developer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5577840"/>
            <a:ext cx="2011680" cy="41148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5577840"/>
            <a:ext cx="2011680" cy="41148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Info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AgentOps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End-to-End Agent Operations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46320" y="146304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78D4"/>
                </a:solidFill>
              </a:defRPr>
            </a:pPr>
            <a:r>
              <a:t>1. Design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Define agent goals,</a:t>
            </a:r>
            <a:br/>
            <a:r>
              <a:t>instructions, tools</a:t>
            </a:r>
            <a:br/>
            <a:r>
              <a:t>&amp;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B294"/>
                </a:solidFill>
              </a:defRPr>
            </a:pPr>
            <a:r>
              <a:t>2. Build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Develop with SDKs,</a:t>
            </a:r>
            <a:br/>
            <a:r>
              <a:t>test locally,</a:t>
            </a:r>
            <a:br/>
            <a:r>
              <a:t>iterate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861C4"/>
                </a:solidFill>
              </a:defRPr>
            </a:pPr>
            <a:r>
              <a:t>3. Deploy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Push to production</a:t>
            </a:r>
            <a:br/>
            <a:r>
              <a:t>via CI/CD, apply</a:t>
            </a:r>
            <a:br/>
            <a:r>
              <a:t>security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93776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4. Monitor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Traces, logs, metrics</a:t>
            </a:r>
            <a:br/>
            <a:r>
              <a:t>via App Insights &amp;</a:t>
            </a:r>
            <a:br/>
            <a:r>
              <a:t>Agent 365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411480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5. Evaluate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Run evaluations,</a:t>
            </a:r>
            <a:br/>
            <a:r>
              <a:t>collect feedback,</a:t>
            </a:r>
            <a:br/>
            <a:r>
              <a:t>measure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286000"/>
            <a:ext cx="2377440" cy="11887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B900"/>
                </a:solidFill>
              </a:defRPr>
            </a:pPr>
            <a:r>
              <a:t>6. Optimize</a:t>
            </a:r>
          </a:p>
          <a:p>
            <a:pPr algn="ctr">
              <a:defRPr sz="900">
                <a:solidFill>
                  <a:srgbClr val="F2F2F2"/>
                </a:solidFill>
              </a:defRPr>
            </a:pPr>
            <a:r>
              <a:t>Refine instructions,</a:t>
            </a:r>
            <a:br/>
            <a:r>
              <a:t>retrain models,</a:t>
            </a:r>
            <a:br/>
            <a:r>
              <a:t>update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3017520"/>
            <a:ext cx="2103120" cy="1371600"/>
          </a:xfrm>
          <a:prstGeom prst="ellipse">
            <a:avLst/>
          </a:prstGeom>
          <a:solidFill>
            <a:srgbClr val="0078D4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Continuous</a:t>
            </a:r>
            <a:br/>
            <a:r>
              <a:t>Loop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201168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0" y="347472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23760" y="502920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840480" y="502920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80160" y="347472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40480" y="2011680"/>
            <a:ext cx="228600" cy="228600"/>
          </a:xfrm>
          <a:prstGeom prst="ellipse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Agent Architecture in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Three Core Components of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(LLM)</a:t>
            </a:r>
          </a:p>
          <a:p>
            <a:pPr algn="ctr">
              <a:defRPr sz="1000">
                <a:solidFill>
                  <a:srgbClr val="50E6FF"/>
                </a:solidFill>
              </a:defRPr>
            </a:pPr>
            <a:r>
              <a:t>Powers reasoning &amp;</a:t>
            </a:r>
            <a:br/>
            <a:r>
              <a:t>language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GPT-4o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GPT-4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GPT-3.5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Custom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474720" cy="9144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Instructions</a:t>
            </a:r>
          </a:p>
          <a:p>
            <a:pPr algn="ctr">
              <a:defRPr sz="1000">
                <a:solidFill>
                  <a:srgbClr val="50E6FF"/>
                </a:solidFill>
              </a:defRPr>
            </a:pPr>
            <a:r>
              <a:t>Define goals, behavior</a:t>
            </a:r>
            <a:br/>
            <a:r>
              <a:t>&amp;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Declarative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004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Workflow (YAML)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Hosted (Code)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91440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Tools</a:t>
            </a:r>
          </a:p>
          <a:p>
            <a:pPr algn="ctr">
              <a:defRPr sz="1000">
                <a:solidFill>
                  <a:srgbClr val="50E6FF"/>
                </a:solidFill>
              </a:defRPr>
            </a:pPr>
            <a:r>
              <a:t>Retrieve knowledge</a:t>
            </a:r>
            <a:br/>
            <a:r>
              <a:t>or take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7432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Bing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2004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6576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AI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1148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Logic Apps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5720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108960" cy="3657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2F2F2"/>
                </a:solidFill>
              </a:defRPr>
            </a:pPr>
            <a:r>
              <a:t>OpenAPI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0E6FF"/>
                </a:solidFill>
              </a:defRPr>
            </a:pPr>
            <a:r>
              <a:t>Input (User Prompt / Alert) --&gt; Agent [Model + Instructions + Tools] --&gt; Output (Response / Action)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228600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Input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46120" y="5806440"/>
            <a:ext cx="36576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0" y="5669280"/>
            <a:ext cx="22860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Processing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89320" y="5806440"/>
            <a:ext cx="36576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5669280"/>
            <a:ext cx="2286000" cy="54864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Tool Calls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732520" y="5806440"/>
            <a:ext cx="36576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0" y="5669280"/>
            <a:ext cx="2286000" cy="54864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Response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Workflow Orchestration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Multi-Agent Coordination in Foundry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2860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Sequential</a:t>
            </a:r>
          </a:p>
          <a:p>
            <a:pPr algn="ctr">
              <a:defRPr sz="900">
                <a:solidFill>
                  <a:srgbClr val="50E6FF"/>
                </a:solidFill>
              </a:defRPr>
            </a:pPr>
            <a:r>
              <a:t>Pass results from one</a:t>
            </a:r>
            <a:br/>
            <a:r>
              <a:t>agent to the next in</a:t>
            </a:r>
            <a:br/>
            <a:r>
              <a:t>a defined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66360" y="2011680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2011680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1828800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691640"/>
            <a:ext cx="2286000" cy="10972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078D4"/>
                </a:solidFill>
              </a:defRPr>
            </a:pPr>
            <a:r>
              <a:t>Use Cases:</a:t>
            </a:r>
          </a:p>
          <a:p>
            <a:pPr algn="l">
              <a:defRPr sz="900">
                <a:solidFill>
                  <a:srgbClr val="F2F2F2"/>
                </a:solidFill>
              </a:defRPr>
            </a:pPr>
            <a:r>
              <a:t>Step-by-step pipelines,</a:t>
            </a:r>
            <a:br/>
            <a:r>
              <a:t>multi-stage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39"/>
            <a:ext cx="2286000" cy="13716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Group Chat</a:t>
            </a:r>
          </a:p>
          <a:p>
            <a:pPr algn="ctr">
              <a:defRPr sz="900">
                <a:solidFill>
                  <a:srgbClr val="50E6FF"/>
                </a:solidFill>
              </a:defRPr>
            </a:pPr>
            <a:r>
              <a:t>Dynamically pass control</a:t>
            </a:r>
            <a:br/>
            <a:r>
              <a:t>based on context</a:t>
            </a:r>
            <a:br/>
            <a:r>
              <a:t>or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566159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66360" y="3749039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0" y="3566159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78040" y="3749039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8079" y="3566159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3428999"/>
            <a:ext cx="2286000" cy="10972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0B294"/>
                </a:solidFill>
              </a:defRPr>
            </a:pPr>
            <a:r>
              <a:t>Use Cases:</a:t>
            </a:r>
          </a:p>
          <a:p>
            <a:pPr algn="l">
              <a:defRPr sz="900">
                <a:solidFill>
                  <a:srgbClr val="F2F2F2"/>
                </a:solidFill>
              </a:defRPr>
            </a:pPr>
            <a:r>
              <a:t>Escalation, fallback,</a:t>
            </a:r>
            <a:br/>
            <a:r>
              <a:t>expert handoff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2286000" cy="137160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Human-in-Loop</a:t>
            </a:r>
          </a:p>
          <a:p>
            <a:pPr algn="ctr">
              <a:defRPr sz="900">
                <a:solidFill>
                  <a:srgbClr val="50E6FF"/>
                </a:solidFill>
              </a:defRPr>
            </a:pPr>
            <a:r>
              <a:t>Ask user questions</a:t>
            </a:r>
            <a:br/>
            <a:r>
              <a:t>and await input</a:t>
            </a:r>
            <a:br/>
            <a:r>
              <a:t>to proceed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5303520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66360" y="5486400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0" y="5303520"/>
            <a:ext cx="1645920" cy="731520"/>
          </a:xfrm>
          <a:prstGeom prst="roundRect">
            <a:avLst/>
          </a:prstGeom>
          <a:solidFill>
            <a:srgbClr val="FF8C00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Human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8040" y="5486400"/>
            <a:ext cx="274320" cy="22860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8079" y="5303520"/>
            <a:ext cx="164592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5166360"/>
            <a:ext cx="2286000" cy="10972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8861C4"/>
                </a:solidFill>
              </a:defRPr>
            </a:pPr>
            <a:r>
              <a:t>Use Cases:</a:t>
            </a:r>
          </a:p>
          <a:p>
            <a:pPr algn="l">
              <a:defRPr sz="900">
                <a:solidFill>
                  <a:srgbClr val="F2F2F2"/>
                </a:solidFill>
              </a:defRPr>
            </a:pPr>
            <a:r>
              <a:t>Approval requests,</a:t>
            </a:r>
            <a:br/>
            <a:r>
              <a:t>obtaining 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Observability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Full Visibility into Agent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Observability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Application Insights:  Usage data, request metrics, error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Conversation Traces:  Full message history: user-to-agent &amp; agent-to-agent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Tool Invocation Logs:  Which tools called, inputs/outputs,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Decision Audit Trail:  Why agent chose specific actions &amp;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Content Safety Logs:  Policy violations, filtered content, XPIA attempts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303520" cy="64008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Evaluation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Cloud Evaluations:  Run automated evals against agent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5468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Feedback Loops:  Collect user ratings &amp; quality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A/B Testing:  Compare agent versions side-by-side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70916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Drift Detection:  Monitor for quality degradation over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486400"/>
            <a:ext cx="5303520" cy="6400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2F2F2"/>
                </a:solidFill>
              </a:defRPr>
            </a:pPr>
            <a:r>
              <a:t>Metrics Dashboard:  Track KPIs: accuracy, latency, 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Security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Enterprise-Grade Agent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078D4"/>
                </a:solidFill>
              </a:defRPr>
            </a:pPr>
            <a:r>
              <a:t>Identity &amp; Access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Microsoft Entra ID, Agent ID,</a:t>
            </a:r>
            <a:br/>
            <a:r>
              <a:t>RBAC, Conditional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00B294"/>
                </a:solidFill>
              </a:defRPr>
            </a:pPr>
            <a:r>
              <a:t>Content Safety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Integrated content filters,</a:t>
            </a:r>
            <a:br/>
            <a:r>
              <a:t>Prompt injection protection (XPIA),</a:t>
            </a:r>
            <a:br/>
            <a:r>
              <a:t>Policy-governed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64592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8861C4"/>
                </a:solidFill>
              </a:defRPr>
            </a:pPr>
            <a:r>
              <a:t>Network Isolation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Virtual networks (VNet),</a:t>
            </a:r>
            <a:br/>
            <a:r>
              <a:t>Bring-your-own resources,</a:t>
            </a:r>
            <a:br/>
            <a:r>
              <a:t>Data residency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FF8C00"/>
                </a:solidFill>
              </a:defRPr>
            </a:pPr>
            <a:r>
              <a:t>Data Protection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Microsoft Purview integration,</a:t>
            </a:r>
            <a:br/>
            <a:r>
              <a:t>Encryption at rest &amp; transit,</a:t>
            </a:r>
            <a:br/>
            <a:r>
              <a:t>Audit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84048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E74C3C"/>
                </a:solidFill>
              </a:defRPr>
            </a:pPr>
            <a:r>
              <a:t>Threat Protection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Microsoft Defender integration,</a:t>
            </a:r>
            <a:br/>
            <a:r>
              <a:t>Real-time threat detection,</a:t>
            </a:r>
            <a:br/>
            <a:r>
              <a:t>Attack remediation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840480"/>
            <a:ext cx="3200400" cy="16459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500" b="1">
                <a:solidFill>
                  <a:srgbClr val="FFB900"/>
                </a:solidFill>
              </a:defRPr>
            </a:pPr>
            <a:r>
              <a:t>Responsible AI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RAI validation checks,</a:t>
            </a:r>
            <a:br/>
            <a:r>
              <a:t>Ethical guardrails,</a:t>
            </a:r>
            <a:br/>
            <a:r>
              <a:t>Bias monitoring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3337560"/>
            <a:ext cx="1463040" cy="914400"/>
          </a:xfrm>
          <a:prstGeom prst="ellipse">
            <a:avLst/>
          </a:prstGeom>
          <a:solidFill>
            <a:srgbClr val="0078D4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Zero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Foundry + Agent 365: Better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Unified AgentOps Across Build &amp; Govern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0292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Microsoft Foundry (Build &amp; Deploy)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Agent Factory: Models + Tools +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Foundry Agent Service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SDK support: Python, .NET, JS,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Workflow orchestration (Sequential, Group Chat, HITL)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Traces, evaluations, App Insights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Content safety &amp; prompt injection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5029200" cy="64008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 365 (Govern &amp; Operate)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7744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Entra Agent ID for every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88036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Unified registry of all agents (inc. shadow)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38328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Visualization: agents, people, data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8620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Access control &amp; conditional access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38912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Microsoft Purview data protection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892040"/>
            <a:ext cx="5029200" cy="41148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F2F2F2"/>
                </a:solidFill>
              </a:defRPr>
            </a:pPr>
            <a:r>
              <a:t>Microsoft Defender threat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5700565"/>
            <a:ext cx="3931920" cy="914400"/>
          </a:xfrm>
          <a:prstGeom prst="roundRect">
            <a:avLst/>
          </a:prstGeom>
          <a:solidFill>
            <a:srgbClr val="0078D4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AgentOps = Build (Foundry) + Govern (Agent 365)</a:t>
            </a:r>
          </a:p>
          <a:p>
            <a:pPr algn="ctr">
              <a:defRPr sz="1100">
                <a:solidFill>
                  <a:srgbClr val="50E6FF"/>
                </a:solidFill>
              </a:defRPr>
            </a:pPr>
            <a:r>
              <a:t>Unified lifecycle from code to compliance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644193" y="5360074"/>
            <a:ext cx="457200" cy="32004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6858833" y="5380525"/>
            <a:ext cx="457200" cy="320040"/>
          </a:xfrm>
          <a:prstGeom prst="downArrow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Enterprise AgentOps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End-to-End Agent Platform with Microsoft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82880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M365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Outlook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Web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5544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Custom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60320"/>
            <a:ext cx="1828800" cy="73152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5603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Declarative</a:t>
            </a:r>
            <a:br/>
            <a:r>
              <a:t>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6300" y="25603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Custom Engine</a:t>
            </a:r>
            <a:br/>
            <a:r>
              <a:t>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5603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Hosted</a:t>
            </a:r>
            <a:br/>
            <a:r>
              <a:t>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6900" y="25603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Workflow</a:t>
            </a:r>
            <a:br/>
            <a:r>
              <a:t>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657600"/>
            <a:ext cx="1828800" cy="73152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Platform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65760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Foundry Agent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65760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Agent Framework SDK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65760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54880"/>
            <a:ext cx="182880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Governance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7548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Agent 365 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6300" y="47548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Entra Agent 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7548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Purview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86900" y="475488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Defender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760720"/>
            <a:ext cx="1828800" cy="73152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57607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Azure AI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7607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Cosmos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57607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AI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7607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Key Vault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5760720"/>
            <a:ext cx="1828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2F2F2"/>
                </a:solidFill>
              </a:defRPr>
            </a:pPr>
            <a:r>
              <a:t>App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Getting Started with AgentOps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Your Roadmap to Production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1: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Set up Azure subscription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Create Foundry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Deploy first model (GPT-4o)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7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976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Build a basic agent with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5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377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Test locally with playground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2468880"/>
            <a:ext cx="274320" cy="32004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3474720" cy="64008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2: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37744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B294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Add tools (AI Search, Functions)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1752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B294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Build multi-agent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B294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Enable App Insights tracing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29767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B294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2976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Apply content safety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93775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B294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9377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Set up CI/CD pipeline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55280" y="2468880"/>
            <a:ext cx="274320" cy="320040"/>
          </a:xfrm>
          <a:prstGeom prst="rightArrow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0" y="1554480"/>
            <a:ext cx="3474720" cy="640080"/>
          </a:xfrm>
          <a:prstGeom prst="roundRect">
            <a:avLst/>
          </a:prstGeom>
          <a:solidFill>
            <a:srgbClr val="886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3: Governance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37744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861C4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Enable Agent 365 (Frontier)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01752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861C4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Assign Entra Agent IDs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657600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861C4"/>
                </a:solidFill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Configure access policies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29767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861C4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2976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Enable Purview &amp; Defender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937759"/>
            <a:ext cx="320040" cy="32004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88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861C4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9377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Monitor via M365 admin center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86400"/>
            <a:ext cx="10972800" cy="8229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50E6FF"/>
                </a:solidFill>
              </a:defRPr>
            </a:pPr>
            <a:r>
              <a:t>Key Resources</a:t>
            </a:r>
          </a:p>
          <a:p>
            <a:pPr algn="l">
              <a:defRPr sz="1000">
                <a:solidFill>
                  <a:srgbClr val="F2F2F2"/>
                </a:solidFill>
              </a:defRPr>
            </a:pPr>
            <a:r>
              <a:t>Foundry Portal: ai.azure.com  |  Agent 365 Docs: learn.microsoft.com/microsoft-agent-365  |  SDKs: Python, .NET, JS, Java  |  Agent Framework: github.com/microsoft/agents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1524</Words>
  <Application>Microsoft Office PowerPoint</Application>
  <PresentationFormat>Custom</PresentationFormat>
  <Paragraphs>303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Jain</cp:lastModifiedBy>
  <cp:revision>2</cp:revision>
  <dcterms:created xsi:type="dcterms:W3CDTF">2013-01-27T09:14:16Z</dcterms:created>
  <dcterms:modified xsi:type="dcterms:W3CDTF">2026-03-04T23:22:10Z</dcterms:modified>
  <cp:category/>
</cp:coreProperties>
</file>